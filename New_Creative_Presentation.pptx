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914400"/>
            <a:ext cx="4572000" cy="457200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0" y="62179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200">
                <a:solidFill>
                  <a:srgbClr val="00D4FF"/>
                </a:solidFill>
                <a:latin typeface="Segoe UI"/>
              </a:defRPr>
            </a:pPr>
            <a:r>
              <a:t>👤 M Karthik Reddy (Lead)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2179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>
                <a:solidFill>
                  <a:srgbClr val="94A3B8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2860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5400" b="1">
                <a:solidFill>
                  <a:srgbClr val="FFFFFF"/>
                </a:solidFill>
                <a:latin typeface="Segoe UI"/>
              </a:defRPr>
            </a:pPr>
            <a:r>
              <a:t>Project Title</a:t>
            </a:r>
          </a:p>
          <a:p>
            <a:pPr>
              <a:spcBef>
                <a:spcPts val="1400"/>
              </a:spcBef>
              <a:defRPr sz="2000">
                <a:solidFill>
                  <a:srgbClr val="00D4FF"/>
                </a:solidFill>
                <a:latin typeface="Segoe UI"/>
              </a:defRPr>
            </a:pPr>
            <a:r>
              <a:t>Presented by Team 1</a:t>
            </a:r>
          </a:p>
          <a:p>
            <a:pPr>
              <a:spcBef>
                <a:spcPts val="1400"/>
              </a:spcBef>
              <a:defRPr sz="2000">
                <a:solidFill>
                  <a:srgbClr val="00D4FF"/>
                </a:solidFill>
                <a:latin typeface="Segoe UI"/>
              </a:defRPr>
            </a:pPr>
            <a:r>
              <a:t>M Karthik Reddy, T Siva Reddy, I Sushma Meghana, R Navya Sri</a:t>
            </a:r>
          </a:p>
          <a:p>
            <a:pPr>
              <a:spcBef>
                <a:spcPts val="1400"/>
              </a:spcBef>
              <a:defRPr sz="2000">
                <a:solidFill>
                  <a:srgbClr val="00D4FF"/>
                </a:solidFill>
                <a:latin typeface="Segoe UI"/>
              </a:defRPr>
            </a:pPr>
            <a:r>
              <a:t>Guide: Dr. G. Kishore | CSE - AI &amp; 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914400"/>
            <a:ext cx="4572000" cy="457200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0" y="62179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200">
                <a:solidFill>
                  <a:srgbClr val="00D4FF"/>
                </a:solidFill>
                <a:latin typeface="Segoe UI"/>
              </a:defRPr>
            </a:pPr>
            <a:r>
              <a:t>👤 M Karthik Reddy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2179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>
                <a:solidFill>
                  <a:srgbClr val="94A3B8"/>
                </a:solidFill>
              </a:defRPr>
            </a:pPr>
            <a: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371600"/>
            <a:ext cx="18288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ABSTRACT: REVOLUTIONIZING PREDICTION</a:t>
            </a:r>
          </a:p>
          <a:p>
            <a:pPr>
              <a:defRPr sz="2000">
                <a:solidFill>
                  <a:srgbClr val="6366F1"/>
                </a:solidFill>
                <a:latin typeface="Segoe UI"/>
              </a:defRPr>
            </a:pPr>
            <a:r>
              <a:t>The Power of Privacy &amp; 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400"/>
              </a:spcBef>
              <a:defRPr sz="2400">
                <a:solidFill>
                  <a:srgbClr val="94A3B8"/>
                </a:solidFill>
                <a:latin typeface="Segoe UI"/>
              </a:defRPr>
            </a:pPr>
            <a:r>
              <a:t> ■  Traditional systems share raw data (privacy risk).</a:t>
            </a:r>
          </a:p>
          <a:p>
            <a:pPr>
              <a:spcBef>
                <a:spcPts val="2400"/>
              </a:spcBef>
              <a:defRPr sz="2400">
                <a:solidFill>
                  <a:srgbClr val="94A3B8"/>
                </a:solidFill>
                <a:latin typeface="Segoe UI"/>
              </a:defRPr>
            </a:pPr>
            <a:r>
              <a:t> ■  Our solution: Federated Learning (train locally, share weights).</a:t>
            </a:r>
          </a:p>
          <a:p>
            <a:pPr>
              <a:spcBef>
                <a:spcPts val="2400"/>
              </a:spcBef>
              <a:defRPr sz="2400">
                <a:solidFill>
                  <a:srgbClr val="94A3B8"/>
                </a:solidFill>
                <a:latin typeface="Segoe UI"/>
              </a:defRPr>
            </a:pPr>
            <a:r>
              <a:t> ■  CNN-2D model achieves 99.9% accuracy.</a:t>
            </a:r>
          </a:p>
          <a:p>
            <a:pPr>
              <a:spcBef>
                <a:spcPts val="2400"/>
              </a:spcBef>
              <a:defRPr sz="2400">
                <a:solidFill>
                  <a:srgbClr val="94A3B8"/>
                </a:solidFill>
                <a:latin typeface="Segoe UI"/>
              </a:defRPr>
            </a:pPr>
            <a:r>
              <a:t> ■  Three Pillars: FL + Privacy + CNN-2D.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914400"/>
            <a:ext cx="4572000" cy="457200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0" y="62179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200">
                <a:solidFill>
                  <a:srgbClr val="00D4FF"/>
                </a:solidFill>
                <a:latin typeface="Segoe UI"/>
              </a:defRPr>
            </a:pPr>
            <a:r>
              <a:t>👤 M Karthik Reddy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2179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>
                <a:solidFill>
                  <a:srgbClr val="94A3B8"/>
                </a:solidFill>
              </a:defRPr>
            </a:pPr>
            <a: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371600"/>
            <a:ext cx="18288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INTRODUCTION: THE URGENCY</a:t>
            </a:r>
          </a:p>
          <a:p>
            <a:pPr>
              <a:defRPr sz="2000">
                <a:solidFill>
                  <a:srgbClr val="6366F1"/>
                </a:solidFill>
                <a:latin typeface="Segoe UI"/>
              </a:defRPr>
            </a:pPr>
            <a:r>
              <a:t>Why Advanced Forecasting?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400"/>
              </a:spcBef>
              <a:defRPr sz="2400">
                <a:solidFill>
                  <a:srgbClr val="94A3B8"/>
                </a:solidFill>
                <a:latin typeface="Segoe UI"/>
              </a:defRPr>
            </a:pPr>
            <a:r>
              <a:t> ■  Floods cause massive loss of life and property annually.</a:t>
            </a:r>
          </a:p>
          <a:p>
            <a:pPr>
              <a:spcBef>
                <a:spcPts val="2400"/>
              </a:spcBef>
              <a:defRPr sz="2400">
                <a:solidFill>
                  <a:srgbClr val="94A3B8"/>
                </a:solidFill>
                <a:latin typeface="Segoe UI"/>
              </a:defRPr>
            </a:pPr>
            <a:r>
              <a:t> ■  Krishna River Basin needs a station-level early warning system.</a:t>
            </a:r>
          </a:p>
          <a:p>
            <a:pPr>
              <a:spcBef>
                <a:spcPts val="2400"/>
              </a:spcBef>
              <a:defRPr sz="2400">
                <a:solidFill>
                  <a:srgbClr val="94A3B8"/>
                </a:solidFill>
                <a:latin typeface="Segoe UI"/>
              </a:defRPr>
            </a:pPr>
            <a:r>
              <a:t> ■  Existing systems are centralized, slow, and not privacy-safe.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914400"/>
            <a:ext cx="4572000" cy="457200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0" y="62179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200">
                <a:solidFill>
                  <a:srgbClr val="00D4FF"/>
                </a:solidFill>
                <a:latin typeface="Segoe UI"/>
              </a:defRPr>
            </a:pPr>
            <a:r>
              <a:t>👤 M Karthik Reddy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2179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>
                <a:solidFill>
                  <a:srgbClr val="94A3B8"/>
                </a:solidFill>
              </a:defRPr>
            </a:pPr>
            <a: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371600"/>
            <a:ext cx="18288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EXISTING SYSTEM</a:t>
            </a:r>
          </a:p>
          <a:p>
            <a:pPr>
              <a:defRPr sz="2000">
                <a:solidFill>
                  <a:srgbClr val="6366F1"/>
                </a:solidFill>
                <a:latin typeface="Segoe UI"/>
              </a:defRPr>
            </a:pPr>
            <a:r>
              <a:t>The Centralized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400"/>
              </a:spcBef>
              <a:defRPr sz="2400">
                <a:solidFill>
                  <a:srgbClr val="94A3B8"/>
                </a:solidFill>
                <a:latin typeface="Segoe UI"/>
              </a:defRPr>
            </a:pPr>
            <a:r>
              <a:t> ■  All stations send raw data to one server.</a:t>
            </a:r>
          </a:p>
          <a:p>
            <a:pPr>
              <a:spcBef>
                <a:spcPts val="2400"/>
              </a:spcBef>
              <a:defRPr sz="2400">
                <a:solidFill>
                  <a:srgbClr val="94A3B8"/>
                </a:solidFill>
                <a:latin typeface="Segoe UI"/>
              </a:defRPr>
            </a:pPr>
            <a:r>
              <a:t> ■  Server processes everything = massive bottleneck.</a:t>
            </a:r>
          </a:p>
          <a:p>
            <a:pPr>
              <a:spcBef>
                <a:spcPts val="2400"/>
              </a:spcBef>
              <a:defRPr sz="2400">
                <a:solidFill>
                  <a:srgbClr val="94A3B8"/>
                </a:solidFill>
                <a:latin typeface="Segoe UI"/>
              </a:defRPr>
            </a:pPr>
            <a:r>
              <a:t> ■  Serious data privacy and bandwidth concerns.</a:t>
            </a:r>
          </a:p>
          <a:p>
            <a:pPr>
              <a:spcBef>
                <a:spcPts val="2400"/>
              </a:spcBef>
              <a:defRPr sz="2400">
                <a:solidFill>
                  <a:srgbClr val="94A3B8"/>
                </a:solidFill>
                <a:latin typeface="Segoe UI"/>
              </a:defRPr>
            </a:pPr>
            <a:r>
              <a:t> ■  If the server fails, the entire warning system fails.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914400"/>
            <a:ext cx="4572000" cy="457200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0" y="62179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200">
                <a:solidFill>
                  <a:srgbClr val="00D4FF"/>
                </a:solidFill>
                <a:latin typeface="Segoe UI"/>
              </a:defRPr>
            </a:pPr>
            <a:r>
              <a:t>👤 M Karthik Reddy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2179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>
                <a:solidFill>
                  <a:srgbClr val="94A3B8"/>
                </a:solidFill>
              </a:defRPr>
            </a:pPr>
            <a: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371600"/>
            <a:ext cx="18288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DISADVANTAGES OF CENTRALIZATION</a:t>
            </a:r>
          </a:p>
          <a:p>
            <a:pPr>
              <a:defRPr sz="2000">
                <a:solidFill>
                  <a:srgbClr val="6366F1"/>
                </a:solidFill>
                <a:latin typeface="Segoe UI"/>
              </a:defRPr>
            </a:pPr>
            <a:r>
              <a:t>Why We Need FL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400"/>
              </a:spcBef>
              <a:defRPr sz="2400">
                <a:solidFill>
                  <a:srgbClr val="94A3B8"/>
                </a:solidFill>
                <a:latin typeface="Segoe UI"/>
              </a:defRPr>
            </a:pPr>
            <a:r>
              <a:t> ■  🚨 Privacy Leakage: Raw hydro data is exposed.</a:t>
            </a:r>
          </a:p>
          <a:p>
            <a:pPr>
              <a:spcBef>
                <a:spcPts val="2400"/>
              </a:spcBef>
              <a:defRPr sz="2400">
                <a:solidFill>
                  <a:srgbClr val="94A3B8"/>
                </a:solidFill>
                <a:latin typeface="Segoe UI"/>
              </a:defRPr>
            </a:pPr>
            <a:r>
              <a:t> ■  📉 High Bandwidth: Constant transmission is expensive.</a:t>
            </a:r>
          </a:p>
          <a:p>
            <a:pPr>
              <a:spcBef>
                <a:spcPts val="2400"/>
              </a:spcBef>
              <a:defRPr sz="2400">
                <a:solidFill>
                  <a:srgbClr val="94A3B8"/>
                </a:solidFill>
                <a:latin typeface="Segoe UI"/>
              </a:defRPr>
            </a:pPr>
            <a:r>
              <a:t> ■  💥 Single Point of Failure: Server crash = total failure.</a:t>
            </a:r>
          </a:p>
          <a:p>
            <a:pPr>
              <a:spcBef>
                <a:spcPts val="2400"/>
              </a:spcBef>
              <a:defRPr sz="2400">
                <a:solidFill>
                  <a:srgbClr val="94A3B8"/>
                </a:solidFill>
                <a:latin typeface="Segoe UI"/>
              </a:defRPr>
            </a:pPr>
            <a:r>
              <a:t> ■  ⏳ High Latency: Slow alerts delay emergency responses.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914400"/>
            <a:ext cx="4572000" cy="457200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0" y="62179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200">
                <a:solidFill>
                  <a:srgbClr val="00D4FF"/>
                </a:solidFill>
                <a:latin typeface="Segoe UI"/>
              </a:defRPr>
            </a:pPr>
            <a:r>
              <a:t>👤 T Siva Reddy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2179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>
                <a:solidFill>
                  <a:srgbClr val="94A3B8"/>
                </a:solidFill>
              </a:defRPr>
            </a:pPr>
            <a: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371600"/>
            <a:ext cx="18288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PROPOSED SYSTEM</a:t>
            </a:r>
          </a:p>
          <a:p>
            <a:pPr>
              <a:defRPr sz="2000">
                <a:solidFill>
                  <a:srgbClr val="6366F1"/>
                </a:solidFill>
                <a:latin typeface="Segoe UI"/>
              </a:defRPr>
            </a:pPr>
            <a:r>
              <a:t>Federated Learning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400"/>
              </a:spcBef>
              <a:defRPr sz="2400">
                <a:solidFill>
                  <a:srgbClr val="94A3B8"/>
                </a:solidFill>
                <a:latin typeface="Segoe UI"/>
              </a:defRPr>
            </a:pPr>
            <a:r>
              <a:t> ■  Each station trains its model locally on its own data.</a:t>
            </a:r>
          </a:p>
          <a:p>
            <a:pPr>
              <a:spcBef>
                <a:spcPts val="2400"/>
              </a:spcBef>
              <a:defRPr sz="2400">
                <a:solidFill>
                  <a:srgbClr val="94A3B8"/>
                </a:solidFill>
                <a:latin typeface="Segoe UI"/>
              </a:defRPr>
            </a:pPr>
            <a:r>
              <a:t> ■  Raw data NEVER leaves the station.</a:t>
            </a:r>
          </a:p>
          <a:p>
            <a:pPr>
              <a:spcBef>
                <a:spcPts val="2400"/>
              </a:spcBef>
              <a:defRPr sz="2400">
                <a:solidFill>
                  <a:srgbClr val="94A3B8"/>
                </a:solidFill>
                <a:latin typeface="Segoe UI"/>
              </a:defRPr>
            </a:pPr>
            <a:r>
              <a:t> ■  Only model weights are shared and aggregated by the server.</a:t>
            </a:r>
          </a:p>
          <a:p>
            <a:pPr>
              <a:spcBef>
                <a:spcPts val="2400"/>
              </a:spcBef>
              <a:defRPr sz="2400">
                <a:solidFill>
                  <a:srgbClr val="94A3B8"/>
                </a:solidFill>
                <a:latin typeface="Segoe UI"/>
              </a:defRPr>
            </a:pPr>
            <a:r>
              <a:t> ■  Delivers Privacy + Accuracy + Collaboration.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914400"/>
            <a:ext cx="4572000" cy="457200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0" y="62179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200">
                <a:solidFill>
                  <a:srgbClr val="00D4FF"/>
                </a:solidFill>
                <a:latin typeface="Segoe UI"/>
              </a:defRPr>
            </a:pPr>
            <a:r>
              <a:t>👤 T Siva Reddy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2179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>
                <a:solidFill>
                  <a:srgbClr val="94A3B8"/>
                </a:solidFill>
              </a:defRPr>
            </a:pPr>
            <a: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371600"/>
            <a:ext cx="18288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WORKING OF PROPOSED SYSTEM</a:t>
            </a:r>
          </a:p>
          <a:p>
            <a:pPr>
              <a:defRPr sz="2000">
                <a:solidFill>
                  <a:srgbClr val="6366F1"/>
                </a:solidFill>
                <a:latin typeface="Segoe UI"/>
              </a:defRPr>
            </a:pPr>
            <a:r>
              <a:t>The 4-Step FL Cycle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400"/>
              </a:spcBef>
              <a:defRPr sz="2400">
                <a:solidFill>
                  <a:srgbClr val="94A3B8"/>
                </a:solidFill>
                <a:latin typeface="Segoe UI"/>
              </a:defRPr>
            </a:pPr>
            <a:r>
              <a:t> ■  1. Station trains CNN-2D on local rainfall data.</a:t>
            </a:r>
          </a:p>
          <a:p>
            <a:pPr>
              <a:spcBef>
                <a:spcPts val="2400"/>
              </a:spcBef>
              <a:defRPr sz="2400">
                <a:solidFill>
                  <a:srgbClr val="94A3B8"/>
                </a:solidFill>
                <a:latin typeface="Segoe UI"/>
              </a:defRPr>
            </a:pPr>
            <a:r>
              <a:t> ■  2. Weights encoded as Base64 and sent via TCP socket.</a:t>
            </a:r>
          </a:p>
          <a:p>
            <a:pPr>
              <a:spcBef>
                <a:spcPts val="2400"/>
              </a:spcBef>
              <a:defRPr sz="2400">
                <a:solidFill>
                  <a:srgbClr val="94A3B8"/>
                </a:solidFill>
                <a:latin typeface="Segoe UI"/>
              </a:defRPr>
            </a:pPr>
            <a:r>
              <a:t> ■  3. Server runs FedAvg to merge all weights.</a:t>
            </a:r>
          </a:p>
          <a:p>
            <a:pPr>
              <a:spcBef>
                <a:spcPts val="2400"/>
              </a:spcBef>
              <a:defRPr sz="2400">
                <a:solidFill>
                  <a:srgbClr val="94A3B8"/>
                </a:solidFill>
                <a:latin typeface="Segoe UI"/>
              </a:defRPr>
            </a:pPr>
            <a:r>
              <a:t> ■  4. Global model is redistributed for better predictions.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914400"/>
            <a:ext cx="4572000" cy="457200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0" y="62179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200">
                <a:solidFill>
                  <a:srgbClr val="00D4FF"/>
                </a:solidFill>
                <a:latin typeface="Segoe UI"/>
              </a:defRPr>
            </a:pPr>
            <a:r>
              <a:t>👤 T Siva Reddy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2179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>
                <a:solidFill>
                  <a:srgbClr val="94A3B8"/>
                </a:solidFill>
              </a:defRPr>
            </a:pPr>
            <a: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371600"/>
            <a:ext cx="18288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ADVANTAGES OF FL APPROACH</a:t>
            </a:r>
          </a:p>
          <a:p>
            <a:pPr>
              <a:defRPr sz="2000">
                <a:solidFill>
                  <a:srgbClr val="6366F1"/>
                </a:solidFill>
                <a:latin typeface="Segoe UI"/>
              </a:defRPr>
            </a:pPr>
            <a:r>
              <a:t>Key Benefits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400"/>
              </a:spcBef>
              <a:defRPr sz="2400">
                <a:solidFill>
                  <a:srgbClr val="94A3B8"/>
                </a:solidFill>
                <a:latin typeface="Segoe UI"/>
              </a:defRPr>
            </a:pPr>
            <a:r>
              <a:t> ■  🛡️ Enhanced Privacy: Zero raw data sharing.</a:t>
            </a:r>
          </a:p>
          <a:p>
            <a:pPr>
              <a:spcBef>
                <a:spcPts val="2400"/>
              </a:spcBef>
              <a:defRPr sz="2400">
                <a:solidFill>
                  <a:srgbClr val="94A3B8"/>
                </a:solidFill>
                <a:latin typeface="Segoe UI"/>
              </a:defRPr>
            </a:pPr>
            <a:r>
              <a:t> ■  ⚡ Reduced Bandwidth: Small weight files only.</a:t>
            </a:r>
          </a:p>
          <a:p>
            <a:pPr>
              <a:spcBef>
                <a:spcPts val="2400"/>
              </a:spcBef>
              <a:defRPr sz="2400">
                <a:solidFill>
                  <a:srgbClr val="94A3B8"/>
                </a:solidFill>
                <a:latin typeface="Segoe UI"/>
              </a:defRPr>
            </a:pPr>
            <a:r>
              <a:t> ■  📈 Better Generalization: Learns from all stations without seeing data.</a:t>
            </a:r>
          </a:p>
          <a:p>
            <a:pPr>
              <a:spcBef>
                <a:spcPts val="2400"/>
              </a:spcBef>
              <a:defRPr sz="2400">
                <a:solidFill>
                  <a:srgbClr val="94A3B8"/>
                </a:solidFill>
                <a:latin typeface="Segoe UI"/>
              </a:defRPr>
            </a:pPr>
            <a:r>
              <a:t> ■  🚀 High Scalability: Plug-and-play new stations easily.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914400"/>
            <a:ext cx="4572000" cy="457200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0" y="62179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200">
                <a:solidFill>
                  <a:srgbClr val="00D4FF"/>
                </a:solidFill>
                <a:latin typeface="Segoe UI"/>
              </a:defRPr>
            </a:pPr>
            <a:r>
              <a:t>👤 T Siva Reddy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2179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>
                <a:solidFill>
                  <a:srgbClr val="94A3B8"/>
                </a:solidFill>
              </a:defRPr>
            </a:pPr>
            <a: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SYSTEM ARCHITECTURE OVERVIEW</a:t>
            </a:r>
          </a:p>
          <a:p>
            <a:pPr>
              <a:defRPr sz="2000">
                <a:solidFill>
                  <a:srgbClr val="00D4FF"/>
                </a:solidFill>
                <a:latin typeface="Segoe UI"/>
              </a:defRPr>
            </a:pPr>
            <a:r>
              <a:t>Three-Layer Architecture</a:t>
            </a:r>
          </a:p>
        </p:txBody>
      </p:sp>
      <p:pic>
        <p:nvPicPr>
          <p:cNvPr id="8" name="Picture 7" descr="arch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10515600" cy="53807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914400"/>
            <a:ext cx="4572000" cy="457200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0" y="62179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200">
                <a:solidFill>
                  <a:srgbClr val="00D4FF"/>
                </a:solidFill>
                <a:latin typeface="Segoe UI"/>
              </a:defRPr>
            </a:pPr>
            <a:r>
              <a:t>👤 T Siva Reddy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2179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>
                <a:solidFill>
                  <a:srgbClr val="94A3B8"/>
                </a:solidFill>
              </a:defRPr>
            </a:pPr>
            <a: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371600"/>
            <a:ext cx="18288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CLIENT SIDE MODULE</a:t>
            </a:r>
          </a:p>
          <a:p>
            <a:pPr>
              <a:defRPr sz="2000">
                <a:solidFill>
                  <a:srgbClr val="6366F1"/>
                </a:solidFill>
                <a:latin typeface="Segoe UI"/>
              </a:defRPr>
            </a:pPr>
            <a:r>
              <a:t>Local 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400"/>
              </a:spcBef>
              <a:defRPr sz="2400">
                <a:solidFill>
                  <a:srgbClr val="94A3B8"/>
                </a:solidFill>
                <a:latin typeface="Segoe UI"/>
              </a:defRPr>
            </a:pPr>
            <a:r>
              <a:t> ■  Receives historical monthly rainfall CSV.</a:t>
            </a:r>
          </a:p>
          <a:p>
            <a:pPr>
              <a:spcBef>
                <a:spcPts val="2400"/>
              </a:spcBef>
              <a:defRPr sz="2400">
                <a:solidFill>
                  <a:srgbClr val="94A3B8"/>
                </a:solidFill>
                <a:latin typeface="Segoe UI"/>
              </a:defRPr>
            </a:pPr>
            <a:r>
              <a:t> ■  Preprocessing: MinMaxScaler, 80/20 train/test split.</a:t>
            </a:r>
          </a:p>
          <a:p>
            <a:pPr>
              <a:spcBef>
                <a:spcPts val="2400"/>
              </a:spcBef>
              <a:defRPr sz="2400">
                <a:solidFill>
                  <a:srgbClr val="94A3B8"/>
                </a:solidFill>
                <a:latin typeface="Segoe UI"/>
              </a:defRPr>
            </a:pPr>
            <a:r>
              <a:t> ■  Trains FFNN (Dense) and CNN-2D (Conv) models locally.</a:t>
            </a:r>
          </a:p>
          <a:p>
            <a:pPr>
              <a:spcBef>
                <a:spcPts val="2400"/>
              </a:spcBef>
              <a:defRPr sz="2400">
                <a:solidFill>
                  <a:srgbClr val="94A3B8"/>
                </a:solidFill>
                <a:latin typeface="Segoe UI"/>
              </a:defRPr>
            </a:pPr>
            <a:r>
              <a:t> ■  Uploads model weights to central server.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914400"/>
            <a:ext cx="4572000" cy="457200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0" y="62179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200">
                <a:solidFill>
                  <a:srgbClr val="00D4FF"/>
                </a:solidFill>
                <a:latin typeface="Segoe UI"/>
              </a:defRPr>
            </a:pPr>
            <a:r>
              <a:t>👤 I Sushma Meghana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2179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>
                <a:solidFill>
                  <a:srgbClr val="94A3B8"/>
                </a:solidFill>
              </a:defRPr>
            </a:pPr>
            <a: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371600"/>
            <a:ext cx="18288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DATA PREPROCESSING DETAILS</a:t>
            </a:r>
          </a:p>
          <a:p>
            <a:pPr>
              <a:defRPr sz="2000">
                <a:solidFill>
                  <a:srgbClr val="6366F1"/>
                </a:solidFill>
                <a:latin typeface="Segoe UI"/>
              </a:defRPr>
            </a:pPr>
            <a:r>
              <a:t>Handling Time-Series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400"/>
              </a:spcBef>
              <a:defRPr sz="2400">
                <a:solidFill>
                  <a:srgbClr val="94A3B8"/>
                </a:solidFill>
                <a:latin typeface="Segoe UI"/>
              </a:defRPr>
            </a:pPr>
            <a:r>
              <a:t> ■  Input: Historical rainfall &amp; water level data.</a:t>
            </a:r>
          </a:p>
          <a:p>
            <a:pPr>
              <a:spcBef>
                <a:spcPts val="2400"/>
              </a:spcBef>
              <a:defRPr sz="2400">
                <a:solidFill>
                  <a:srgbClr val="94A3B8"/>
                </a:solidFill>
                <a:latin typeface="Segoe UI"/>
              </a:defRPr>
            </a:pPr>
            <a:r>
              <a:t> ■  Applied Min-Max normalization mapping values to [0, 1].</a:t>
            </a:r>
          </a:p>
          <a:p>
            <a:pPr>
              <a:spcBef>
                <a:spcPts val="2400"/>
              </a:spcBef>
              <a:defRPr sz="2400">
                <a:solidFill>
                  <a:srgbClr val="94A3B8"/>
                </a:solidFill>
                <a:latin typeface="Segoe UI"/>
              </a:defRPr>
            </a:pPr>
            <a:r>
              <a:t> ■  Used shuffle=False to preserve crucial temporal patterns.</a:t>
            </a:r>
          </a:p>
          <a:p>
            <a:pPr>
              <a:spcBef>
                <a:spcPts val="2400"/>
              </a:spcBef>
              <a:defRPr sz="2400">
                <a:solidFill>
                  <a:srgbClr val="94A3B8"/>
                </a:solidFill>
                <a:latin typeface="Segoe UI"/>
              </a:defRPr>
            </a:pPr>
            <a:r>
              <a:t> ■  80% Training / 20% Testing split.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914400"/>
            <a:ext cx="4572000" cy="457200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0" y="62179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200">
                <a:solidFill>
                  <a:srgbClr val="00D4FF"/>
                </a:solidFill>
                <a:latin typeface="Segoe UI"/>
              </a:defRPr>
            </a:pPr>
            <a:r>
              <a:t>👤 I Sushma Meghana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2179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>
                <a:solidFill>
                  <a:srgbClr val="94A3B8"/>
                </a:solidFill>
              </a:defRPr>
            </a:pPr>
            <a: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371600"/>
            <a:ext cx="18288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SERVER SIDE MODULE</a:t>
            </a:r>
          </a:p>
          <a:p>
            <a:pPr>
              <a:defRPr sz="2000">
                <a:solidFill>
                  <a:srgbClr val="6366F1"/>
                </a:solidFill>
                <a:latin typeface="Segoe UI"/>
              </a:defRPr>
            </a:pPr>
            <a:r>
              <a:t>Global Model Aggregation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400"/>
              </a:spcBef>
              <a:defRPr sz="2400">
                <a:solidFill>
                  <a:srgbClr val="94A3B8"/>
                </a:solidFill>
                <a:latin typeface="Segoe UI"/>
              </a:defRPr>
            </a:pPr>
            <a:r>
              <a:t> ■  Server receives encoded weights from all stations.</a:t>
            </a:r>
          </a:p>
          <a:p>
            <a:pPr>
              <a:spcBef>
                <a:spcPts val="2400"/>
              </a:spcBef>
              <a:defRPr sz="2400">
                <a:solidFill>
                  <a:srgbClr val="94A3B8"/>
                </a:solidFill>
                <a:latin typeface="Segoe UI"/>
              </a:defRPr>
            </a:pPr>
            <a:r>
              <a:t> ■  FedAvg averages weights layer by layer.</a:t>
            </a:r>
          </a:p>
          <a:p>
            <a:pPr>
              <a:spcBef>
                <a:spcPts val="2400"/>
              </a:spcBef>
              <a:defRPr sz="2400">
                <a:solidFill>
                  <a:srgbClr val="94A3B8"/>
                </a:solidFill>
                <a:latin typeface="Segoe UI"/>
              </a:defRPr>
            </a:pPr>
            <a:r>
              <a:t> ■  Calculates exact metrics: MSE, RMSE, R².</a:t>
            </a:r>
          </a:p>
          <a:p>
            <a:pPr>
              <a:spcBef>
                <a:spcPts val="2400"/>
              </a:spcBef>
              <a:defRPr sz="2400">
                <a:solidFill>
                  <a:srgbClr val="94A3B8"/>
                </a:solidFill>
                <a:latin typeface="Segoe UI"/>
              </a:defRPr>
            </a:pPr>
            <a:r>
              <a:t> ■  Applies Inverse-Transform to return to real water levels.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914400"/>
            <a:ext cx="4572000" cy="457200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0" y="62179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200">
                <a:solidFill>
                  <a:srgbClr val="00D4FF"/>
                </a:solidFill>
                <a:latin typeface="Segoe UI"/>
              </a:defRPr>
            </a:pPr>
            <a:r>
              <a:t>👤 I Sushma Meghana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2179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>
                <a:solidFill>
                  <a:srgbClr val="94A3B8"/>
                </a:solidFill>
              </a:defRPr>
            </a:pPr>
            <a: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371600"/>
            <a:ext cx="18288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CNN-2D LOCAL ALGORITHM</a:t>
            </a:r>
          </a:p>
          <a:p>
            <a:pPr>
              <a:defRPr sz="2000">
                <a:solidFill>
                  <a:srgbClr val="6366F1"/>
                </a:solidFill>
                <a:latin typeface="Segoe UI"/>
              </a:defRPr>
            </a:pPr>
            <a:r>
              <a:t>6-Step Neural Sequence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400"/>
              </a:spcBef>
              <a:defRPr sz="2400">
                <a:solidFill>
                  <a:srgbClr val="94A3B8"/>
                </a:solidFill>
                <a:latin typeface="Segoe UI"/>
              </a:defRPr>
            </a:pPr>
            <a:r>
              <a:t> ■  1. Input Reshaping: Data to (N, 12, 1, 1).</a:t>
            </a:r>
          </a:p>
          <a:p>
            <a:pPr>
              <a:spcBef>
                <a:spcPts val="2400"/>
              </a:spcBef>
              <a:defRPr sz="2400">
                <a:solidFill>
                  <a:srgbClr val="94A3B8"/>
                </a:solidFill>
                <a:latin typeface="Segoe UI"/>
              </a:defRPr>
            </a:pPr>
            <a:r>
              <a:t> ■  2. Conv2D + ReLU: Spatial monthly patterns.</a:t>
            </a:r>
          </a:p>
          <a:p>
            <a:pPr>
              <a:spcBef>
                <a:spcPts val="2400"/>
              </a:spcBef>
              <a:defRPr sz="2400">
                <a:solidFill>
                  <a:srgbClr val="94A3B8"/>
                </a:solidFill>
                <a:latin typeface="Segoe UI"/>
              </a:defRPr>
            </a:pPr>
            <a:r>
              <a:t> ■  3. MaxPooling: Key feature extraction.</a:t>
            </a:r>
          </a:p>
          <a:p>
            <a:pPr>
              <a:spcBef>
                <a:spcPts val="2400"/>
              </a:spcBef>
              <a:defRPr sz="2400">
                <a:solidFill>
                  <a:srgbClr val="94A3B8"/>
                </a:solidFill>
                <a:latin typeface="Segoe UI"/>
              </a:defRPr>
            </a:pPr>
            <a:r>
              <a:t> ■  4. Flatten: 2D maps to 1D.</a:t>
            </a:r>
          </a:p>
          <a:p>
            <a:pPr>
              <a:spcBef>
                <a:spcPts val="2400"/>
              </a:spcBef>
              <a:defRPr sz="2400">
                <a:solidFill>
                  <a:srgbClr val="94A3B8"/>
                </a:solidFill>
                <a:latin typeface="Segoe UI"/>
              </a:defRPr>
            </a:pPr>
            <a:r>
              <a:t> ■  5. Dense Layers: High-level relationships.</a:t>
            </a:r>
          </a:p>
          <a:p>
            <a:pPr>
              <a:spcBef>
                <a:spcPts val="2400"/>
              </a:spcBef>
              <a:defRPr sz="2400">
                <a:solidFill>
                  <a:srgbClr val="94A3B8"/>
                </a:solidFill>
                <a:latin typeface="Segoe UI"/>
              </a:defRPr>
            </a:pPr>
            <a:r>
              <a:t> ■  6. Adam Optimizer + MSE Loss.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914400"/>
            <a:ext cx="4572000" cy="457200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0" y="62179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200">
                <a:solidFill>
                  <a:srgbClr val="00D4FF"/>
                </a:solidFill>
                <a:latin typeface="Segoe UI"/>
              </a:defRPr>
            </a:pPr>
            <a:r>
              <a:t>👤 I Sushma Meghana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2179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>
                <a:solidFill>
                  <a:srgbClr val="94A3B8"/>
                </a:solidFill>
              </a:defRPr>
            </a:pPr>
            <a: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371600"/>
            <a:ext cx="18288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FEDERATED AGGREGATION</a:t>
            </a:r>
          </a:p>
          <a:p>
            <a:pPr>
              <a:defRPr sz="2000">
                <a:solidFill>
                  <a:srgbClr val="6366F1"/>
                </a:solidFill>
                <a:latin typeface="Segoe UI"/>
              </a:defRPr>
            </a:pPr>
            <a:r>
              <a:t>The FedAvg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400"/>
              </a:spcBef>
              <a:defRPr sz="2400">
                <a:solidFill>
                  <a:srgbClr val="94A3B8"/>
                </a:solidFill>
                <a:latin typeface="Segoe UI"/>
              </a:defRPr>
            </a:pPr>
            <a:r>
              <a:t> ■  1. Server initializes global model.</a:t>
            </a:r>
          </a:p>
          <a:p>
            <a:pPr>
              <a:spcBef>
                <a:spcPts val="2400"/>
              </a:spcBef>
              <a:defRPr sz="2400">
                <a:solidFill>
                  <a:srgbClr val="94A3B8"/>
                </a:solidFill>
                <a:latin typeface="Segoe UI"/>
              </a:defRPr>
            </a:pPr>
            <a:r>
              <a:t> ■  2. Clients train locally until convergence (150 epochs).</a:t>
            </a:r>
          </a:p>
          <a:p>
            <a:pPr>
              <a:spcBef>
                <a:spcPts val="2400"/>
              </a:spcBef>
              <a:defRPr sz="2400">
                <a:solidFill>
                  <a:srgbClr val="94A3B8"/>
                </a:solidFill>
                <a:latin typeface="Segoe UI"/>
              </a:defRPr>
            </a:pPr>
            <a:r>
              <a:t> ■  3. Base64 encoded weights transferred via JSON.</a:t>
            </a:r>
          </a:p>
          <a:p>
            <a:pPr>
              <a:spcBef>
                <a:spcPts val="2400"/>
              </a:spcBef>
              <a:defRPr sz="2400">
                <a:solidFill>
                  <a:srgbClr val="94A3B8"/>
                </a:solidFill>
                <a:latin typeface="Segoe UI"/>
              </a:defRPr>
            </a:pPr>
            <a:r>
              <a:t> ■  4. Server calculates global mean (FedAvg).</a:t>
            </a:r>
          </a:p>
          <a:p>
            <a:pPr>
              <a:spcBef>
                <a:spcPts val="2400"/>
              </a:spcBef>
              <a:defRPr sz="2400">
                <a:solidFill>
                  <a:srgbClr val="94A3B8"/>
                </a:solidFill>
                <a:latin typeface="Segoe UI"/>
              </a:defRPr>
            </a:pPr>
            <a:r>
              <a:t> ■  5. Evaluates using R² and MSE convergence.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914400"/>
            <a:ext cx="4572000" cy="457200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0" y="62179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200">
                <a:solidFill>
                  <a:srgbClr val="00D4FF"/>
                </a:solidFill>
                <a:latin typeface="Segoe UI"/>
              </a:defRPr>
            </a:pPr>
            <a:r>
              <a:t>👤 I Sushma Meghana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2179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>
                <a:solidFill>
                  <a:srgbClr val="94A3B8"/>
                </a:solidFill>
              </a:defRPr>
            </a:pPr>
            <a: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371600"/>
            <a:ext cx="18288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SYSTEM REQUIREMENTS</a:t>
            </a:r>
          </a:p>
          <a:p>
            <a:pPr>
              <a:defRPr sz="2000">
                <a:solidFill>
                  <a:srgbClr val="6366F1"/>
                </a:solidFill>
                <a:latin typeface="Segoe UI"/>
              </a:defRPr>
            </a:pPr>
            <a:r>
              <a:t>Minimal Resource Usage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400"/>
              </a:spcBef>
              <a:defRPr sz="2400">
                <a:solidFill>
                  <a:srgbClr val="94A3B8"/>
                </a:solidFill>
                <a:latin typeface="Segoe UI"/>
              </a:defRPr>
            </a:pPr>
            <a:r>
              <a:t> ■  Hardware: standard Intel i5+, 8GB RAM.</a:t>
            </a:r>
          </a:p>
          <a:p>
            <a:pPr>
              <a:spcBef>
                <a:spcPts val="2400"/>
              </a:spcBef>
              <a:defRPr sz="2400">
                <a:solidFill>
                  <a:srgbClr val="94A3B8"/>
                </a:solidFill>
                <a:latin typeface="Segoe UI"/>
              </a:defRPr>
            </a:pPr>
            <a:r>
              <a:t> ■  Software: Python 3.10, TensorFlow, Pandas.</a:t>
            </a:r>
          </a:p>
          <a:p>
            <a:pPr>
              <a:spcBef>
                <a:spcPts val="2400"/>
              </a:spcBef>
              <a:defRPr sz="2400">
                <a:solidFill>
                  <a:srgbClr val="94A3B8"/>
                </a:solidFill>
                <a:latin typeface="Segoe UI"/>
              </a:defRPr>
            </a:pPr>
            <a:r>
              <a:t> ■  Dataset: 6 CSV files under 1MB total.</a:t>
            </a:r>
          </a:p>
          <a:p>
            <a:pPr>
              <a:spcBef>
                <a:spcPts val="2400"/>
              </a:spcBef>
              <a:defRPr sz="2400">
                <a:solidFill>
                  <a:srgbClr val="94A3B8"/>
                </a:solidFill>
                <a:latin typeface="Segoe UI"/>
              </a:defRPr>
            </a:pPr>
            <a:r>
              <a:t> ■  Proof: Complete system runs efficiently on local laptops without cloud.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914400"/>
            <a:ext cx="4572000" cy="457200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0" y="62179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200">
                <a:solidFill>
                  <a:srgbClr val="00D4FF"/>
                </a:solidFill>
                <a:latin typeface="Segoe UI"/>
              </a:defRPr>
            </a:pPr>
            <a:r>
              <a:t>👤 R Navya Sri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2179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>
                <a:solidFill>
                  <a:srgbClr val="94A3B8"/>
                </a:solidFill>
              </a:defRPr>
            </a:pPr>
            <a: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371600"/>
            <a:ext cx="18288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LITERATURE SURVEY</a:t>
            </a:r>
          </a:p>
          <a:p>
            <a:pPr>
              <a:defRPr sz="2000">
                <a:solidFill>
                  <a:srgbClr val="6366F1"/>
                </a:solidFill>
                <a:latin typeface="Segoe UI"/>
              </a:defRPr>
            </a:pPr>
            <a:r>
              <a:t>Basis of 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400"/>
              </a:spcBef>
              <a:defRPr sz="2400">
                <a:solidFill>
                  <a:srgbClr val="94A3B8"/>
                </a:solidFill>
                <a:latin typeface="Segoe UI"/>
              </a:defRPr>
            </a:pPr>
            <a:r>
              <a:t> ■  Studied FedAvg by McMahan et al. (2017).</a:t>
            </a:r>
          </a:p>
          <a:p>
            <a:pPr>
              <a:spcBef>
                <a:spcPts val="2400"/>
              </a:spcBef>
              <a:defRPr sz="2400">
                <a:solidFill>
                  <a:srgbClr val="94A3B8"/>
                </a:solidFill>
                <a:latin typeface="Segoe UI"/>
              </a:defRPr>
            </a:pPr>
            <a:r>
              <a:t> ■  CNN proven effective for time-series sequential data.</a:t>
            </a:r>
          </a:p>
          <a:p>
            <a:pPr>
              <a:spcBef>
                <a:spcPts val="2400"/>
              </a:spcBef>
              <a:defRPr sz="2400">
                <a:solidFill>
                  <a:srgbClr val="94A3B8"/>
                </a:solidFill>
                <a:latin typeface="Segoe UI"/>
              </a:defRPr>
            </a:pPr>
            <a:r>
              <a:t> ■  FFNN used as benchmark baseline.</a:t>
            </a:r>
          </a:p>
          <a:p>
            <a:pPr>
              <a:spcBef>
                <a:spcPts val="2400"/>
              </a:spcBef>
              <a:defRPr sz="2400">
                <a:solidFill>
                  <a:srgbClr val="94A3B8"/>
                </a:solidFill>
                <a:latin typeface="Segoe UI"/>
              </a:defRPr>
            </a:pPr>
            <a:r>
              <a:t> ■  Found FL provides superior privacy over standard systems.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914400"/>
            <a:ext cx="4572000" cy="457200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0" y="62179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200">
                <a:solidFill>
                  <a:srgbClr val="00D4FF"/>
                </a:solidFill>
                <a:latin typeface="Segoe UI"/>
              </a:defRPr>
            </a:pPr>
            <a:r>
              <a:t>👤 R Navya Sri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2179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>
                <a:solidFill>
                  <a:srgbClr val="94A3B8"/>
                </a:solidFill>
              </a:defRPr>
            </a:pPr>
            <a: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371600"/>
            <a:ext cx="18288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RESULTS &amp; PERFORMANCE</a:t>
            </a:r>
          </a:p>
          <a:p>
            <a:pPr>
              <a:defRPr sz="2000">
                <a:solidFill>
                  <a:srgbClr val="6366F1"/>
                </a:solidFill>
                <a:latin typeface="Segoe UI"/>
              </a:defRPr>
            </a:pPr>
            <a:r>
              <a:t>Model Efficacy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400"/>
              </a:spcBef>
              <a:defRPr sz="2400">
                <a:solidFill>
                  <a:srgbClr val="94A3B8"/>
                </a:solidFill>
                <a:latin typeface="Segoe UI"/>
              </a:defRPr>
            </a:pPr>
            <a:r>
              <a:t> ■  🏆 CNN-2D achieves 99.9% accuracy.</a:t>
            </a:r>
          </a:p>
          <a:p>
            <a:pPr>
              <a:spcBef>
                <a:spcPts val="2400"/>
              </a:spcBef>
              <a:defRPr sz="2400">
                <a:solidFill>
                  <a:srgbClr val="94A3B8"/>
                </a:solidFill>
                <a:latin typeface="Segoe UI"/>
              </a:defRPr>
            </a:pPr>
            <a:r>
              <a:t> ■  📊 FFNN strong baseline comparison.</a:t>
            </a:r>
          </a:p>
          <a:p>
            <a:pPr>
              <a:spcBef>
                <a:spcPts val="2400"/>
              </a:spcBef>
              <a:defRPr sz="2400">
                <a:solidFill>
                  <a:srgbClr val="94A3B8"/>
                </a:solidFill>
                <a:latin typeface="Segoe UI"/>
              </a:defRPr>
            </a:pPr>
            <a:r>
              <a:t> ■  🔒 Full Data Privacy guaranteed.</a:t>
            </a:r>
          </a:p>
          <a:p>
            <a:pPr>
              <a:spcBef>
                <a:spcPts val="2400"/>
              </a:spcBef>
              <a:defRPr sz="2400">
                <a:solidFill>
                  <a:srgbClr val="94A3B8"/>
                </a:solidFill>
                <a:latin typeface="Segoe UI"/>
              </a:defRPr>
            </a:pPr>
            <a:r>
              <a:t> ■  🚨 Trigger threshold: Alerts at Water Level &gt; 25 units.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914400"/>
            <a:ext cx="4572000" cy="457200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0" y="62179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200">
                <a:solidFill>
                  <a:srgbClr val="00D4FF"/>
                </a:solidFill>
                <a:latin typeface="Segoe UI"/>
              </a:defRPr>
            </a:pPr>
            <a:r>
              <a:t>👤 R Navya Sri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2179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>
                <a:solidFill>
                  <a:srgbClr val="94A3B8"/>
                </a:solidFill>
              </a:defRPr>
            </a:pPr>
            <a: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371600"/>
            <a:ext cx="18288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CONCLUSION</a:t>
            </a:r>
          </a:p>
          <a:p>
            <a:pPr>
              <a:defRPr sz="2000">
                <a:solidFill>
                  <a:srgbClr val="6366F1"/>
                </a:solidFill>
                <a:latin typeface="Segoe UI"/>
              </a:defRPr>
            </a:pPr>
            <a:r>
              <a:t>Final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400"/>
              </a:spcBef>
              <a:defRPr sz="2400">
                <a:solidFill>
                  <a:srgbClr val="94A3B8"/>
                </a:solidFill>
                <a:latin typeface="Segoe UI"/>
              </a:defRPr>
            </a:pPr>
            <a:r>
              <a:t> ■  Privacy-Preserving: Raw data stays at stations.</a:t>
            </a:r>
          </a:p>
          <a:p>
            <a:pPr>
              <a:spcBef>
                <a:spcPts val="2400"/>
              </a:spcBef>
              <a:defRPr sz="2400">
                <a:solidFill>
                  <a:srgbClr val="94A3B8"/>
                </a:solidFill>
                <a:latin typeface="Segoe UI"/>
              </a:defRPr>
            </a:pPr>
            <a:r>
              <a:t> ■  Effective FL: FedAvg successfully merges local knowledge.</a:t>
            </a:r>
          </a:p>
          <a:p>
            <a:pPr>
              <a:spcBef>
                <a:spcPts val="2400"/>
              </a:spcBef>
              <a:defRPr sz="2400">
                <a:solidFill>
                  <a:srgbClr val="94A3B8"/>
                </a:solidFill>
                <a:latin typeface="Segoe UI"/>
              </a:defRPr>
            </a:pPr>
            <a:r>
              <a:t> ■  Scalable &amp; Secure: Seamless station integration.</a:t>
            </a:r>
          </a:p>
          <a:p>
            <a:pPr>
              <a:spcBef>
                <a:spcPts val="2400"/>
              </a:spcBef>
              <a:defRPr sz="2400">
                <a:solidFill>
                  <a:srgbClr val="94A3B8"/>
                </a:solidFill>
                <a:latin typeface="Segoe UI"/>
              </a:defRPr>
            </a:pPr>
            <a:r>
              <a:t> ■  Real-World Ready: Tested on Krishna River Basin data.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914400"/>
            <a:ext cx="4572000" cy="457200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0" y="62179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200">
                <a:solidFill>
                  <a:srgbClr val="00D4FF"/>
                </a:solidFill>
                <a:latin typeface="Segoe UI"/>
              </a:defRPr>
            </a:pPr>
            <a:r>
              <a:t>👤 R Navya Sri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2179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>
                <a:solidFill>
                  <a:srgbClr val="94A3B8"/>
                </a:solidFill>
              </a:defRPr>
            </a:pPr>
            <a: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371600"/>
            <a:ext cx="18288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FUTURE SCOPE</a:t>
            </a:r>
          </a:p>
          <a:p>
            <a:pPr>
              <a:defRPr sz="2000">
                <a:solidFill>
                  <a:srgbClr val="6366F1"/>
                </a:solidFill>
                <a:latin typeface="Segoe UI"/>
              </a:defRPr>
            </a:pPr>
            <a:r>
              <a:t>Roadmap Ahead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400"/>
              </a:spcBef>
              <a:defRPr sz="2400">
                <a:solidFill>
                  <a:srgbClr val="94A3B8"/>
                </a:solidFill>
                <a:latin typeface="Segoe UI"/>
              </a:defRPr>
            </a:pPr>
            <a:r>
              <a:t> ■  Add more monitoring stations along river length.</a:t>
            </a:r>
          </a:p>
          <a:p>
            <a:pPr>
              <a:spcBef>
                <a:spcPts val="2400"/>
              </a:spcBef>
              <a:defRPr sz="2400">
                <a:solidFill>
                  <a:srgbClr val="94A3B8"/>
                </a:solidFill>
                <a:latin typeface="Segoe UI"/>
              </a:defRPr>
            </a:pPr>
            <a:r>
              <a:t> ■  Connect live IoT sensors for real-time water feeds.</a:t>
            </a:r>
          </a:p>
          <a:p>
            <a:pPr>
              <a:spcBef>
                <a:spcPts val="2400"/>
              </a:spcBef>
              <a:defRPr sz="2400">
                <a:solidFill>
                  <a:srgbClr val="94A3B8"/>
                </a:solidFill>
                <a:latin typeface="Segoe UI"/>
              </a:defRPr>
            </a:pPr>
            <a:r>
              <a:t> ■  Develop Hybrid LSTM+CNN models.</a:t>
            </a:r>
          </a:p>
          <a:p>
            <a:pPr>
              <a:spcBef>
                <a:spcPts val="2400"/>
              </a:spcBef>
              <a:defRPr sz="2400">
                <a:solidFill>
                  <a:srgbClr val="94A3B8"/>
                </a:solidFill>
                <a:latin typeface="Segoe UI"/>
              </a:defRPr>
            </a:pPr>
            <a:r>
              <a:t> ■  Integrate with government disaster portals.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914400"/>
            <a:ext cx="4572000" cy="457200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0" y="62179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200">
                <a:solidFill>
                  <a:srgbClr val="00D4FF"/>
                </a:solidFill>
                <a:latin typeface="Segoe UI"/>
              </a:defRPr>
            </a:pPr>
            <a:r>
              <a:t>👤 R Navya Sri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2179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>
                <a:solidFill>
                  <a:srgbClr val="94A3B8"/>
                </a:solidFill>
              </a:defRPr>
            </a:pPr>
            <a:r>
              <a:t>20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371600"/>
            <a:ext cx="18288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SYSTEM DEMONSTRATION</a:t>
            </a:r>
          </a:p>
          <a:p>
            <a:pPr>
              <a:defRPr sz="2000">
                <a:solidFill>
                  <a:srgbClr val="6366F1"/>
                </a:solidFill>
                <a:latin typeface="Segoe UI"/>
              </a:defRPr>
            </a:pPr>
            <a:r>
              <a:t>Thank You / Q&amp;A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400"/>
              </a:spcBef>
              <a:defRPr sz="2400">
                <a:solidFill>
                  <a:srgbClr val="94A3B8"/>
                </a:solidFill>
                <a:latin typeface="Segoe UI"/>
              </a:defRPr>
            </a:pPr>
            <a:r>
              <a:t> ■  We have successfully built a privacy-safe, AI-driven flood forecasting system.</a:t>
            </a:r>
          </a:p>
          <a:p>
            <a:pPr>
              <a:spcBef>
                <a:spcPts val="2400"/>
              </a:spcBef>
              <a:defRPr sz="2400">
                <a:solidFill>
                  <a:srgbClr val="94A3B8"/>
                </a:solidFill>
                <a:latin typeface="Segoe UI"/>
              </a:defRPr>
            </a:pPr>
            <a:r>
              <a:t> ■  The floor is open for Questions.</a:t>
            </a:r>
          </a:p>
          <a:p>
            <a:pPr>
              <a:spcBef>
                <a:spcPts val="2400"/>
              </a:spcBef>
              <a:defRPr sz="2400">
                <a:solidFill>
                  <a:srgbClr val="94A3B8"/>
                </a:solidFill>
                <a:latin typeface="Segoe UI"/>
              </a:defRPr>
            </a:pPr>
            <a:r>
              <a:t> ■  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